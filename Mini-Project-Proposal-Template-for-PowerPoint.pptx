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91" r:id="rId1"/>
  </p:sldMasterIdLst>
  <p:notesMasterIdLst>
    <p:notesMasterId r:id="rId14"/>
  </p:notesMasterIdLst>
  <p:sldIdLst>
    <p:sldId id="355" r:id="rId2"/>
    <p:sldId id="366" r:id="rId3"/>
    <p:sldId id="367" r:id="rId4"/>
    <p:sldId id="368" r:id="rId5"/>
    <p:sldId id="369" r:id="rId6"/>
    <p:sldId id="374" r:id="rId7"/>
    <p:sldId id="371" r:id="rId8"/>
    <p:sldId id="375" r:id="rId9"/>
    <p:sldId id="376" r:id="rId10"/>
    <p:sldId id="373" r:id="rId11"/>
    <p:sldId id="377" r:id="rId12"/>
    <p:sldId id="36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a Waite" initials="EW" lastIdx="2" clrIdx="0">
    <p:extLst>
      <p:ext uri="{19B8F6BF-5375-455C-9EA6-DF929625EA0E}">
        <p15:presenceInfo xmlns:p15="http://schemas.microsoft.com/office/powerpoint/2012/main" userId="c568693182780e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7F85"/>
    <a:srgbClr val="3C636A"/>
    <a:srgbClr val="19444A"/>
    <a:srgbClr val="A8C1C2"/>
    <a:srgbClr val="67A9B3"/>
    <a:srgbClr val="E4EFED"/>
    <a:srgbClr val="58A0A5"/>
    <a:srgbClr val="D5DFDD"/>
    <a:srgbClr val="A13427"/>
    <a:srgbClr val="E0E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 autoAdjust="0"/>
    <p:restoredTop sz="96058"/>
  </p:normalViewPr>
  <p:slideViewPr>
    <p:cSldViewPr snapToGrid="0" snapToObjects="1">
      <p:cViewPr varScale="1">
        <p:scale>
          <a:sx n="85" d="100"/>
          <a:sy n="85" d="100"/>
        </p:scale>
        <p:origin x="504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AFEDE-F1BF-6A4A-80D9-CCB6DC4EFE3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11C10-233D-DA48-A5CB-9365BBABB6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76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09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35A78-3159-9AB9-14C5-9B12C2DA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24433-BA0E-7899-3554-C22E639AB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2C519-2DF7-8038-6F83-700E6E9ED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C30F2-ACB0-41E5-1DF2-6348633D9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779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467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7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99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7639-4727-4A76-5E1B-B0F596C85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4A57F-7207-A6C8-4363-8CC32AFCA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39878-6AA4-7635-6733-23E6FAF78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4E342-FFBC-A5B8-762D-38CDE814B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111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01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830D-CB62-F5DB-A62B-A7DD3B57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98B42C-3796-4CEE-2B84-7A633B569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E338C-4824-E79C-126B-53CD01BAF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30DDF-4318-E9F3-C88E-AD3AFBBB0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323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0159-6100-1573-E83D-DA41BC9E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5D3F1-1770-B05A-E5B6-E4DD2C58F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D50A4-03B6-7EC7-1794-B6D6CFB60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7930-6135-1BCD-5C8C-F771B9093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417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557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5B9E8-33DC-62C0-AEA1-587A1AB8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BD797-F9BB-6C09-66FA-5BA18BDCD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08A2F-DAE0-A008-BF69-E5D9DF009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5E1B1-CEA1-19FA-9F6A-F1A239ECB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03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9341-ED4C-1D4E-0275-D25EBA80A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F15C7-97AD-804C-B87A-6D90FDD6A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BBC94-9389-EC85-4D15-EBA929CAA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ABB62-90FE-D8B0-B53E-5C79B55FE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21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65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8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8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41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3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145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244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71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92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55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815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139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311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391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275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685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201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381E756-E947-FD4A-8A23-D2C983A1A8BD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802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  <p:sldLayoutId id="2147484003" r:id="rId12"/>
    <p:sldLayoutId id="2147484004" r:id="rId13"/>
    <p:sldLayoutId id="2147484005" r:id="rId14"/>
    <p:sldLayoutId id="2147484006" r:id="rId15"/>
    <p:sldLayoutId id="2147484007" r:id="rId16"/>
    <p:sldLayoutId id="2147484008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50F0BBFE-FFF5-DD82-C1F8-D8CABD2F8D27}"/>
              </a:ext>
            </a:extLst>
          </p:cNvPr>
          <p:cNvSpPr/>
          <p:nvPr/>
        </p:nvSpPr>
        <p:spPr>
          <a:xfrm>
            <a:off x="-4905" y="880559"/>
            <a:ext cx="5977441" cy="5977441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945B4B-641E-9CDE-D686-9BAE5943AE4F}"/>
              </a:ext>
            </a:extLst>
          </p:cNvPr>
          <p:cNvSpPr/>
          <p:nvPr/>
        </p:nvSpPr>
        <p:spPr>
          <a:xfrm>
            <a:off x="814493" y="1531917"/>
            <a:ext cx="10542619" cy="973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IN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Mate</a:t>
            </a:r>
            <a:endParaRPr lang="en-US" sz="60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B59CB-2A88-326F-B50C-13DD5449741C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C2C58-2014-1BD3-9E5A-1F38662690B2}"/>
              </a:ext>
            </a:extLst>
          </p:cNvPr>
          <p:cNvSpPr/>
          <p:nvPr/>
        </p:nvSpPr>
        <p:spPr>
          <a:xfrm>
            <a:off x="814493" y="4215897"/>
            <a:ext cx="2377440" cy="320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Guide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1C13CB-3A48-EC96-8A6B-A0B442263428}"/>
              </a:ext>
            </a:extLst>
          </p:cNvPr>
          <p:cNvSpPr/>
          <p:nvPr/>
        </p:nvSpPr>
        <p:spPr>
          <a:xfrm>
            <a:off x="6186262" y="6292792"/>
            <a:ext cx="5943600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2025-mini-B-4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B6A895-E82F-23E8-8812-E73ACE4830D4}"/>
              </a:ext>
            </a:extLst>
          </p:cNvPr>
          <p:cNvSpPr/>
          <p:nvPr/>
        </p:nvSpPr>
        <p:spPr>
          <a:xfrm>
            <a:off x="7055223" y="3862350"/>
            <a:ext cx="3591787" cy="1327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By-</a:t>
            </a:r>
          </a:p>
          <a:p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S.Bhargav</a:t>
            </a: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(23211a67a7)</a:t>
            </a:r>
          </a:p>
          <a:p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kern="1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T.Nikitha</a:t>
            </a:r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(23211a67b6)</a:t>
            </a:r>
          </a:p>
          <a:p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kern="1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S.Vinod</a:t>
            </a:r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(23211a67a6)</a:t>
            </a:r>
          </a:p>
          <a:p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E02115-26DD-D618-831B-71ABB446BB7A}"/>
              </a:ext>
            </a:extLst>
          </p:cNvPr>
          <p:cNvSpPr/>
          <p:nvPr/>
        </p:nvSpPr>
        <p:spPr>
          <a:xfrm>
            <a:off x="835949" y="6292792"/>
            <a:ext cx="1005840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sz="2000" dirty="0">
                <a:solidFill>
                  <a:srgbClr val="284348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0.0.1</a:t>
            </a:r>
            <a:endParaRPr lang="en-US" sz="2000" dirty="0">
              <a:solidFill>
                <a:srgbClr val="284348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E377E-0306-3D88-A1FA-A5C47F185AF9}"/>
              </a:ext>
            </a:extLst>
          </p:cNvPr>
          <p:cNvSpPr/>
          <p:nvPr/>
        </p:nvSpPr>
        <p:spPr>
          <a:xfrm>
            <a:off x="785150" y="5972750"/>
            <a:ext cx="1005840" cy="320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version</a:t>
            </a:r>
            <a:endParaRPr lang="en-US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326BEB-111A-260F-7B88-4EA31252CB52}"/>
              </a:ext>
            </a:extLst>
          </p:cNvPr>
          <p:cNvSpPr/>
          <p:nvPr/>
        </p:nvSpPr>
        <p:spPr>
          <a:xfrm>
            <a:off x="2749565" y="6292792"/>
            <a:ext cx="1554480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sz="20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2000" dirty="0">
                <a:solidFill>
                  <a:srgbClr val="284348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/12/2025</a:t>
            </a:r>
            <a:endParaRPr lang="en-US" sz="2000" dirty="0">
              <a:solidFill>
                <a:srgbClr val="284348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4B0459-1CB2-0E11-7B98-FBBBE2509DEA}"/>
              </a:ext>
            </a:extLst>
          </p:cNvPr>
          <p:cNvSpPr/>
          <p:nvPr/>
        </p:nvSpPr>
        <p:spPr>
          <a:xfrm>
            <a:off x="2698766" y="5972750"/>
            <a:ext cx="1554480" cy="320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 until</a:t>
            </a:r>
            <a:endParaRPr lang="en-US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116A283-1233-49D7-A108-3BA5FD096B4A}"/>
              </a:ext>
            </a:extLst>
          </p:cNvPr>
          <p:cNvSpPr/>
          <p:nvPr/>
        </p:nvSpPr>
        <p:spPr>
          <a:xfrm>
            <a:off x="763912" y="5033809"/>
            <a:ext cx="6228524" cy="5135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I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Mr.M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PurnachandraRao</a:t>
            </a:r>
            <a:r>
              <a:rPr lang="en-US" sz="24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,Assistant Professor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78C11F6E-FA50-4228-9B69-97BC9B0618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15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E3AE-13DD-560D-A63D-6C844374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0C62516-6CEF-EB94-1E7F-566B7481580F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26EBCD4-3431-2228-03D3-2869B7D2F3C5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31E9323-6F72-6CCB-6227-869ED332D333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2B951FB4-FEB1-F3BA-94F6-55943017D7F6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F93D192E-770D-3CE8-BC37-B76310D5F66E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C5320E26-A6C0-A8D0-BD3F-344908BFC539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542FF7A-E21C-52D9-C73F-CAB393950800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578CB7A7-F2BF-A93B-4D06-5E1BFBAA02E6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26845B68-5088-3C0A-CCD8-647D6DA43F88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8641EFC5-4B06-BAFC-8387-6E58DEC0838F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87423DD3-AC08-E075-EC70-E0942DC79BB5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27EC230-49B2-1533-665E-92D86D6CF335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A61A1FE1-A1DA-36E8-E551-32EF841F4634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6F04EFDC-6EE9-CF51-A8C4-832B8D2D2B2B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1376B6C8-53E1-495F-A604-895B2854F7FC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9484E8CF-A633-CC2B-51E7-5388815368A8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96DA28D-E678-88BB-AB28-BB877212FBFE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5C47940-C43A-F32E-ED23-7396E7C0079D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1D1BE574-851E-D53B-DA86-42F99C2BB5FA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85D6D787-53C7-B0AD-AD9F-653C06768643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F97E63E8-5EAD-ACC6-5D0E-6BE6362416D6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F080AE19-B473-2A50-1F03-BF5A4A19A93A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B2D97F3A-7644-E375-FF53-BDB296381825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8112509-F3D4-43A4-F766-2932EB7F8575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AB73E3BD-49F0-15E9-3624-F912B4DC782F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7BB1484-865D-6E75-55E3-D4453E9D826A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121303E6-23E8-3C9D-0E14-D0478A8C5056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6AF0F2E3-228B-8230-81DC-733BD51172D7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ADE4E3F-0E81-30A1-A5BB-3311D6ACB003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179371EC-63A0-EAD1-89E1-2FC134337034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9E9B1C8D-6550-7FB0-B62C-8F52AF383D6D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918A657F-CA13-7E30-9D2D-89090F67F28E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C200005E-FE5D-3373-CDB3-D65CF7D2D0A1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991DE68E-E3AB-A597-5C1B-4A2D28CD6A8D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A031115B-4ECC-F47D-7AE6-35ED64C4B555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B0DC3849-92E1-560C-B009-49BBDE355F23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DEF81ACB-4EEB-15F5-82DB-B53EC0C8B054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A9F2CC6B-0E19-83A5-420A-1472D0A14E6A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56B7FBE1-655E-59D4-EA06-6FBE5503F936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43B6BF5C-2EDE-F70D-8DEE-280BAE9BBED8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11953966-2A8A-E341-C6F8-8D22E513C1C6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CA999B24-0591-3186-9279-E6712C1174FA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73F90677-B8B2-1202-CAD9-C3E0EA794358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D2D769A0-EBF4-697C-75B4-5B2C48621D2F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08684EFE-F8F4-17AC-7DC2-FB59DF0CEBB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C17ADA70-BC09-F52B-AA57-D9DC924FED6C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5FC67962-4269-F707-4F57-F5D2DE0E7030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C4921048-61F4-37C2-5039-C4E137F57248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114574F-0354-46B2-B68D-014E45A7D8A8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D20EF4F9-9B32-B94F-E02B-771BE4CAEE8D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4D4A312B-4503-6997-9773-C27865812759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42C6D97F-567D-B660-8F27-39E9BB2E060E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EEAE97F5-F54F-BA09-E3DE-93B1940D56A6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701DC1B1-C4B7-1A6E-083D-F1BEF5A78200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BB485BED-2AE8-988E-E58F-C74C09E78843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1AA3D735-9E69-3A7A-8D3D-17BBBF9454E6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DE148600-2BC1-6D58-D980-8B51A83440A2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AB9928D-0460-075F-02B4-CF6497EEE5DA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57FC627-FE71-A98D-03DA-144B4C82B225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487E3F44-2DD8-4887-49E2-A0E337BE137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C9922B8C-E876-88AE-4FC1-82B2AD59B4F6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AA9EB88-02B1-53D9-3DCF-41EB3FB72382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EF23B8E0-608E-8B26-411E-EED6193BE0D3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F2FECB-BA81-59C1-C176-EC89EFCF57EA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A7409FFF-A363-869A-9C7B-F5B534F42336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8DA66E1-8B0A-3964-FD9A-E414EB6DA86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490A88FD-E2E2-0B73-65A1-B89F39828227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FE33B111-F93C-9BBC-8572-5E77337537FD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72909C9-F7FA-C734-5345-EFFC25C6429C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8E3DF96B-D275-CD83-BC06-48E289F5DBC3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EDFEC26A-DC90-A44F-A8FF-912D430764D0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ECB6B390-CECF-F92E-EFD8-1162A10BC5F5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AFB0F408-0D01-6548-1420-44E012F2F1FF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026C3BB9-F99C-1A79-4D1F-018776E89229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96AAA162-5A8F-0E9D-EB61-90B4CB86C314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37E4A9-1051-52BD-CE42-AB30AB7772DC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BE8DAE25-A032-E9ED-4A69-51DF85A08BFF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F7B8C2BF-1DEE-3163-1E3E-C2B91F15FA85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26E750B4-EE7D-5FBE-B887-B3E276493230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14A56043-72DD-B3C2-D096-2511890CD587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9D072568-B4D2-1C53-A5D7-D1A5DDED5FB8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0EB6B316-4AAE-0EAA-62D4-A76175822809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A61EC186-FFD3-CDEF-8EF9-44ACAB9DA2AE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8A0F11C9-8ACC-607E-30FE-DE00374871D9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2706753F-F4DF-8171-EC1D-98D8877448AD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FEE8DBF-D8FC-4ED8-67DE-C8FC1ED19216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CD9B1BEA-C34B-5DD3-EF68-27DD67B53747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52082DD0-EFCA-3B7C-36BE-8BFB148EEAF1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34B3A2FC-E727-8C80-6DF5-91BF36E8BAC3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16AD6296-DC54-B091-2F42-E1DC9225272E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B84A9056-87EF-BFD7-35A3-1E07BBDB9517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88467C66-29B3-4037-ECC1-86EAF3E5A57E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1F5BDCD3-98E0-E201-3AA4-2CECF6505774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9F70C27C-A948-A757-D386-D612E464552B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93923BEF-3A3A-47A4-A50B-2DA3FF98920A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28E451E4-B757-FF4F-B979-FD76177B04D1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65315426-492F-42F1-5B55-3B1DC073E5C6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DF2CD808-C208-BBB6-A673-9FDA1C22EB27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96680EF-1BB0-B56F-1D7D-8D44AC932334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B2778265-5202-FA48-2C87-4635F1873275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AF8729A0-B701-0406-C766-798F0BE2F75C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5D6AEBA0-C6D8-807C-02E1-DBFA740EBFEA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E45F01FC-A6FD-F898-D13B-0A566F42149A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E248389B-C03B-117A-1618-2A8969CE7799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777C09F-8CD5-47B5-DA21-489E6E0175EC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E2DD246B-28BF-40BF-3545-F6BD12CA1842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C34BF7BD-D243-C857-783F-99940E76D8E5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763139EE-0215-FE35-6E79-211F3B55836B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BE40FEBF-4BC0-3EF7-194F-B81CC107F6B2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BFE53BA3-D288-08E2-9473-4DA50885E844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943E6C5C-E23B-DA5B-39F4-731D9D136163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730723D0-8B4E-C4D6-E046-4A828304A3FA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AE4EE879-E4CF-51E8-7FB9-5F819B4A9563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D0CF7611-392C-1165-6658-A7B3B85C3F84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A15CCA92-2607-286F-0510-916FB3CFA4F1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06D76A4D-D93C-1DFB-2AE4-1C0136E8DF28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26FA0BBA-9233-811F-5E0F-28AB277006E4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A36DAB22-70DE-D3FB-E04F-5712C5E4D57A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4D5E2C8-BC98-AFB7-29C7-59EE0137324C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A1C661C4-BCB9-3ECE-2DE6-9BFF7E7E8ED2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01CB608-909D-F016-660F-DCBCDCE36BEB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17B1BDE6-AF92-6CA9-8505-8CA4A898D779}"/>
              </a:ext>
            </a:extLst>
          </p:cNvPr>
          <p:cNvSpPr/>
          <p:nvPr/>
        </p:nvSpPr>
        <p:spPr>
          <a:xfrm>
            <a:off x="-179805" y="880559"/>
            <a:ext cx="5977441" cy="5977441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76D1F76-E976-435F-0915-718359B0E705}"/>
              </a:ext>
            </a:extLst>
          </p:cNvPr>
          <p:cNvSpPr/>
          <p:nvPr/>
        </p:nvSpPr>
        <p:spPr>
          <a:xfrm>
            <a:off x="-4905" y="0"/>
            <a:ext cx="6785714" cy="7590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0" bIns="0" rtlCol="0" anchor="t" anchorCtr="0"/>
          <a:lstStyle/>
          <a:p>
            <a:r>
              <a:rPr lang="en-US" sz="4400" kern="100" dirty="0">
                <a:solidFill>
                  <a:schemeClr val="bg1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contents</a:t>
            </a:r>
            <a:endParaRPr lang="en-US" sz="4400" kern="100" dirty="0">
              <a:solidFill>
                <a:schemeClr val="bg1"/>
              </a:solidFill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CCC9A221-2A56-7D2E-FFEB-4753B473795B}"/>
              </a:ext>
            </a:extLst>
          </p:cNvPr>
          <p:cNvSpPr/>
          <p:nvPr/>
        </p:nvSpPr>
        <p:spPr>
          <a:xfrm>
            <a:off x="408324" y="1956693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27971E31-C07A-AE31-37DB-A441CD7D7919}"/>
              </a:ext>
            </a:extLst>
          </p:cNvPr>
          <p:cNvSpPr/>
          <p:nvPr/>
        </p:nvSpPr>
        <p:spPr>
          <a:xfrm>
            <a:off x="408324" y="2726339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CD3AF959-2A46-3137-5EC8-F9B48C246679}"/>
              </a:ext>
            </a:extLst>
          </p:cNvPr>
          <p:cNvSpPr/>
          <p:nvPr/>
        </p:nvSpPr>
        <p:spPr>
          <a:xfrm>
            <a:off x="408324" y="3495986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84236C8B-1290-FDCF-9942-9F91E3C77807}"/>
              </a:ext>
            </a:extLst>
          </p:cNvPr>
          <p:cNvSpPr/>
          <p:nvPr/>
        </p:nvSpPr>
        <p:spPr>
          <a:xfrm>
            <a:off x="408324" y="1187047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50AF555-259A-BAC7-6A83-B48C64E5F768}"/>
              </a:ext>
            </a:extLst>
          </p:cNvPr>
          <p:cNvSpPr/>
          <p:nvPr/>
        </p:nvSpPr>
        <p:spPr>
          <a:xfrm>
            <a:off x="408324" y="1283306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ABB8FA6-0F7B-5BFA-5402-46A263D13E2C}"/>
              </a:ext>
            </a:extLst>
          </p:cNvPr>
          <p:cNvSpPr/>
          <p:nvPr/>
        </p:nvSpPr>
        <p:spPr>
          <a:xfrm>
            <a:off x="408324" y="2044334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61D67B3-4C69-C2A2-11C6-ADA64D74983B}"/>
              </a:ext>
            </a:extLst>
          </p:cNvPr>
          <p:cNvSpPr/>
          <p:nvPr/>
        </p:nvSpPr>
        <p:spPr>
          <a:xfrm>
            <a:off x="408324" y="2808986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2E24AB5-4866-03BD-9143-C82C8BC6B246}"/>
              </a:ext>
            </a:extLst>
          </p:cNvPr>
          <p:cNvSpPr/>
          <p:nvPr/>
        </p:nvSpPr>
        <p:spPr>
          <a:xfrm>
            <a:off x="408324" y="3570014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19ADA066-07EA-6239-A37C-96500A546C4A}"/>
              </a:ext>
            </a:extLst>
          </p:cNvPr>
          <p:cNvSpPr/>
          <p:nvPr/>
        </p:nvSpPr>
        <p:spPr>
          <a:xfrm>
            <a:off x="1213375" y="2000177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Abstract</a:t>
            </a:r>
            <a:endParaRPr lang="en-US" sz="2400" dirty="0">
              <a:solidFill>
                <a:srgbClr val="284348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2528E6E-A883-903B-984A-C03763ED8E99}"/>
              </a:ext>
            </a:extLst>
          </p:cNvPr>
          <p:cNvSpPr/>
          <p:nvPr/>
        </p:nvSpPr>
        <p:spPr>
          <a:xfrm>
            <a:off x="1258464" y="2763938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22EA9CBD-FBD2-7B28-3F7A-77B253EE763F}"/>
              </a:ext>
            </a:extLst>
          </p:cNvPr>
          <p:cNvSpPr/>
          <p:nvPr/>
        </p:nvSpPr>
        <p:spPr>
          <a:xfrm>
            <a:off x="1213375" y="5998918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Outcomes of Project</a:t>
            </a:r>
            <a:endParaRPr lang="en-US" sz="2400" dirty="0">
              <a:solidFill>
                <a:srgbClr val="284348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2B24C3BD-EC74-4C1F-BC5B-E02E455A4302}"/>
              </a:ext>
            </a:extLst>
          </p:cNvPr>
          <p:cNvSpPr/>
          <p:nvPr/>
        </p:nvSpPr>
        <p:spPr>
          <a:xfrm>
            <a:off x="1206963" y="3570014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Literature Survey</a:t>
            </a:r>
            <a:endParaRPr lang="en-US" sz="2400" dirty="0">
              <a:solidFill>
                <a:srgbClr val="284348"/>
              </a:solidFill>
            </a:endParaRPr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9B9794C0-7435-F770-47B7-063ED458ABCA}"/>
              </a:ext>
            </a:extLst>
          </p:cNvPr>
          <p:cNvSpPr/>
          <p:nvPr/>
        </p:nvSpPr>
        <p:spPr>
          <a:xfrm>
            <a:off x="427618" y="5904279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E9517791-9655-2290-E7A5-D97FCA7545F7}"/>
              </a:ext>
            </a:extLst>
          </p:cNvPr>
          <p:cNvSpPr/>
          <p:nvPr/>
        </p:nvSpPr>
        <p:spPr>
          <a:xfrm>
            <a:off x="427618" y="5987072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E255D06-CB08-658F-FDE2-D360057BD06C}"/>
              </a:ext>
            </a:extLst>
          </p:cNvPr>
          <p:cNvSpPr/>
          <p:nvPr/>
        </p:nvSpPr>
        <p:spPr>
          <a:xfrm>
            <a:off x="1184872" y="1254506"/>
            <a:ext cx="4114800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Justification of Title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2EF34A6E-AFB3-39B1-896A-04425CB1AEF6}"/>
              </a:ext>
            </a:extLst>
          </p:cNvPr>
          <p:cNvSpPr/>
          <p:nvPr/>
        </p:nvSpPr>
        <p:spPr>
          <a:xfrm>
            <a:off x="408324" y="4316478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D99671FC-C7CB-CC93-7A1E-ED31AAD41AA2}"/>
              </a:ext>
            </a:extLst>
          </p:cNvPr>
          <p:cNvSpPr/>
          <p:nvPr/>
        </p:nvSpPr>
        <p:spPr>
          <a:xfrm>
            <a:off x="408324" y="5086125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7181CDA8-BE26-7EA2-D8C6-6872B6EFC43D}"/>
              </a:ext>
            </a:extLst>
          </p:cNvPr>
          <p:cNvSpPr/>
          <p:nvPr/>
        </p:nvSpPr>
        <p:spPr>
          <a:xfrm>
            <a:off x="408324" y="4399125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E05C212A-A216-C219-9572-B93EB0A01C9B}"/>
              </a:ext>
            </a:extLst>
          </p:cNvPr>
          <p:cNvSpPr/>
          <p:nvPr/>
        </p:nvSpPr>
        <p:spPr>
          <a:xfrm>
            <a:off x="408324" y="5160153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2D7FE12-E0C8-FF0B-F50A-679180881E6F}"/>
              </a:ext>
            </a:extLst>
          </p:cNvPr>
          <p:cNvSpPr/>
          <p:nvPr/>
        </p:nvSpPr>
        <p:spPr>
          <a:xfrm>
            <a:off x="1213169" y="5212510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Technology Stack</a:t>
            </a:r>
            <a:endParaRPr lang="en-US" sz="2400" dirty="0">
              <a:solidFill>
                <a:srgbClr val="284348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CC68BB7-2350-4795-BBB1-D1FA12192FBF}"/>
              </a:ext>
            </a:extLst>
          </p:cNvPr>
          <p:cNvSpPr/>
          <p:nvPr/>
        </p:nvSpPr>
        <p:spPr>
          <a:xfrm>
            <a:off x="5299672" y="1207985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795CD46F-EBFC-424F-9BD5-FED61520C7FE}"/>
              </a:ext>
            </a:extLst>
          </p:cNvPr>
          <p:cNvSpPr/>
          <p:nvPr/>
        </p:nvSpPr>
        <p:spPr>
          <a:xfrm>
            <a:off x="6067724" y="1163372"/>
            <a:ext cx="4920982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rgbClr val="284348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onclusion</a:t>
            </a:r>
          </a:p>
        </p:txBody>
      </p:sp>
      <p:sp>
        <p:nvSpPr>
          <p:cNvPr id="196" name="Rounded Rectangle 192">
            <a:extLst>
              <a:ext uri="{FF2B5EF4-FFF2-40B4-BE49-F238E27FC236}">
                <a16:creationId xmlns:a16="http://schemas.microsoft.com/office/drawing/2014/main" id="{F09F1CE6-AEC7-498F-B5FB-417DE2D395F8}"/>
              </a:ext>
            </a:extLst>
          </p:cNvPr>
          <p:cNvSpPr/>
          <p:nvPr/>
        </p:nvSpPr>
        <p:spPr>
          <a:xfrm>
            <a:off x="5250683" y="1109022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55521EB-9DC5-4B52-8534-F3A6164B83DE}"/>
              </a:ext>
            </a:extLst>
          </p:cNvPr>
          <p:cNvSpPr/>
          <p:nvPr/>
        </p:nvSpPr>
        <p:spPr>
          <a:xfrm>
            <a:off x="1213169" y="4464503"/>
            <a:ext cx="3657955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2400" dirty="0">
              <a:solidFill>
                <a:srgbClr val="284348"/>
              </a:solidFill>
            </a:endParaRPr>
          </a:p>
        </p:txBody>
      </p:sp>
      <p:pic>
        <p:nvPicPr>
          <p:cNvPr id="226" name="Picture 225">
            <a:extLst>
              <a:ext uri="{FF2B5EF4-FFF2-40B4-BE49-F238E27FC236}">
                <a16:creationId xmlns:a16="http://schemas.microsoft.com/office/drawing/2014/main" id="{FEFED97A-24B8-4293-9860-B445207047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1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FDB59CB-2A88-326F-B50C-13DD5449741C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E515F57-09B5-448B-92E7-FC5DA071875D}"/>
              </a:ext>
            </a:extLst>
          </p:cNvPr>
          <p:cNvSpPr/>
          <p:nvPr/>
        </p:nvSpPr>
        <p:spPr>
          <a:xfrm>
            <a:off x="1013012" y="773844"/>
            <a:ext cx="439923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Justification of Title</a:t>
            </a:r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86BD9A91-A610-461B-AB4D-21035E969C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EC7459-85E0-BEC0-0B3A-F334A4CA1F19}"/>
              </a:ext>
            </a:extLst>
          </p:cNvPr>
          <p:cNvSpPr txBox="1"/>
          <p:nvPr/>
        </p:nvSpPr>
        <p:spPr>
          <a:xfrm>
            <a:off x="1136967" y="1421686"/>
            <a:ext cx="1050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“Student”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primary users, focusing on their academic, emotional, and productivity needs throughout their educational journey.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“Mate”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signifies a companion-like system that supports, guides, and assists students continuously, rather than acting as a simple question-answer chatbot.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reflects the system’s role as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assistant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understands student behavior, learning patterns, and challenges.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“AI”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highlights the use of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Artificial Intelligence and multi-agent architecture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intelligent decision-making, contextual understanding, and adaptive responses.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accurately conveys the project’s goal of providing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 student support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voice-enabled, agent-based AI technology.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159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FDB59CB-2A88-326F-B50C-13DD5449741C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99D189F-4A6E-4780-B8BA-D8DF2A40A12C}"/>
              </a:ext>
            </a:extLst>
          </p:cNvPr>
          <p:cNvSpPr/>
          <p:nvPr/>
        </p:nvSpPr>
        <p:spPr>
          <a:xfrm>
            <a:off x="1173494" y="517816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92" name="Picture 191">
            <a:extLst>
              <a:ext uri="{FF2B5EF4-FFF2-40B4-BE49-F238E27FC236}">
                <a16:creationId xmlns:a16="http://schemas.microsoft.com/office/drawing/2014/main" id="{8420FD94-FF8A-4D5E-AD53-DDB0CD8AEE3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1E2977-A1C0-8B02-B452-083E2373DBE2}"/>
              </a:ext>
            </a:extLst>
          </p:cNvPr>
          <p:cNvSpPr txBox="1"/>
          <p:nvPr/>
        </p:nvSpPr>
        <p:spPr>
          <a:xfrm>
            <a:off x="1173494" y="1109022"/>
            <a:ext cx="10384125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contemporary academic environment, students face multiple challenges such as complex curriculum demands, high cognitive load, emotional stress, and ineffective time management.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educational tools and generic AI chatbots provide static and generalized responses, lacking personalization, contextual understanding, and emotional intelligence.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limitations, this project proposes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Mate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voice-enabled intelligent academic companion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support students throughout their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Life Flow (LLF)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based on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a central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Router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user intent and dynamically delegates tasks to specialized agents for expert-level handling.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academic, emotional, and behavioral intelligence, Student Mate AI acts as a proactive AI partner that enhances student performance, well-being, and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958779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FDB59CB-2A88-326F-B50C-13DD5449741C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5501B6B-EC77-47C1-BED3-6FC1C9A01967}"/>
              </a:ext>
            </a:extLst>
          </p:cNvPr>
          <p:cNvSpPr/>
          <p:nvPr/>
        </p:nvSpPr>
        <p:spPr>
          <a:xfrm>
            <a:off x="1222193" y="606910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192" name="Picture 191">
            <a:extLst>
              <a:ext uri="{FF2B5EF4-FFF2-40B4-BE49-F238E27FC236}">
                <a16:creationId xmlns:a16="http://schemas.microsoft.com/office/drawing/2014/main" id="{3E257B4B-4B6D-41FE-BC29-CEE48B6872C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C8DEFC-9C0A-2508-F48B-5EF153DDF69C}"/>
              </a:ext>
            </a:extLst>
          </p:cNvPr>
          <p:cNvSpPr txBox="1"/>
          <p:nvPr/>
        </p:nvSpPr>
        <p:spPr>
          <a:xfrm>
            <a:off x="1222193" y="1305501"/>
            <a:ext cx="1004385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 AI Chatbots (e.g., ChatGPT, Gemini, Claude)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powerful Large Language Models (LLMs) capable of answering questions, summarizing text, and generating code.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Context: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They treat every query as a new session and do not maintain a long-term memory of the student's specific syllabus, weak areas, or past failures.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Session-Bound Memory: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Although modern LLMs support large context windows (up 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200k tokens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sending and receiving), this memory is typically isolated to a single chat session. Once the session ends or the limit is reached, the context is lost. They do not retain a persistent, long-term memory of the student's history across the entire academic year.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Responses: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query like "Explain this concept" yields a standard textbook answer, without adapting to the student's specific learning style (e.g., visual vs. theoretical).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Emotional Intelligence: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They cannot detect stress or burnout and will continue to push content even when a student is cognitively overloaded.</a:t>
            </a:r>
          </a:p>
        </p:txBody>
      </p:sp>
    </p:spTree>
    <p:extLst>
      <p:ext uri="{BB962C8B-B14F-4D97-AF65-F5344CB8AC3E}">
        <p14:creationId xmlns:p14="http://schemas.microsoft.com/office/powerpoint/2010/main" val="235228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D644-9A7D-2AF2-D131-65EDDB68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17E0A27B-BCA1-FF2F-354F-26EA97BD2ABE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91EDC14-A645-4BC2-A7A0-C8D5C0377C02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D68A269-5540-DDF5-BA61-FD9057170777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B3F75A73-11E9-0F44-85F8-08291553DB29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2FC6735-3968-FF1C-33BD-D34181BEFEA4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E638A6F3-79FA-5914-A84C-63FDBB36C7D6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B9D7127-D6D6-D097-BEC7-35AE8C095958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CECD3CF9-57E8-E5B3-9B95-C78B655D1BD6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EF28EB26-87C8-D7E1-4A06-3C37D7C5EA3D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FA5D537-F104-DF21-FDB6-54EFADDB500D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556056D3-94D3-D730-37E7-A5A5368DCF4C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2D63AFD-237E-F4B3-89C2-08814CA040F0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D09790F9-7578-69D7-F457-FC0EC9F2D56C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78A9CF92-697E-1F8C-81BB-56E5121F5403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3D91488-3B7A-5DE8-9B86-004042F8864C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A6DD6F73-4A22-FF51-0FC9-B106702B15B7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DE046F8-DEEB-B3AC-A083-6EDA5E5368C0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E3C2105-2201-BDC3-62AC-B565796FC2B1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F390991-6FD8-E913-CE1D-0D45DC0BC717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8A07D6FE-9658-DA36-A692-1E3FB191A5D1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7C073C2-26D9-5E2F-8E34-53B496FCAD0C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EFDB491F-CCAD-F1E2-8331-5B1D48DC10F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EC4359EA-A1BE-367B-F059-3758CB0C8DFD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6C0708D-7256-3528-98B1-73883A28A646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A9D4E6F1-3B48-AB7D-4B56-A8E4FBED3B92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A251942-AD6E-0D68-D90F-E4CC74E3C9E1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05A7A26-99D3-CF69-05E6-29734D2F3764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D1458289-3429-3888-5AB9-9E8EB9725767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2C1BF159-FA21-0A01-2868-903BF0D7E1AA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D8F81A12-FEC8-3D49-F7D4-4143A2A3E77C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F39B412D-763F-8337-83ED-08DC67EF0B5D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8AF50351-68A7-E488-2F1D-39168C808D1C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A86023E6-1645-C51C-66CD-199D92F3BF19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31BED23-132B-7BF5-76BE-32568145A962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A13F5A7F-4BAD-0386-8526-F1A98119ACD1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153BC94E-48FF-26E9-02F8-F26E32FC22AD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A6D18334-49F2-B361-EBC3-FB1C6E0ACE1F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E3C8798F-8174-D8FB-7A8A-4099BE07D35B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998A0489-AC1E-160A-F354-69EA6F7312FE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A720E9B2-95EA-B373-3D99-C965D8134DDE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CCBAA682-8D0C-597F-0D12-CB5AE90AEC62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C2A33AF1-71AE-D6EE-3A88-8F88F3DBD1A3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D0F933C1-3CF4-4F72-5EC9-AD54B84B8D75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E7DEBBBC-8D0A-8F47-8A4C-FD9B7CD1C836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6FCC5ADB-ADA4-E3E9-6EE3-21C0284CBFC1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845E7A5D-AD6C-215D-BF5E-D146C0B1195E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04D1B5E-36A3-76BC-C187-1CF41E45976A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E497BEE3-B455-A762-899F-0A9D323DD5DB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42E00CC6-2D67-A331-374D-0733FB4E2532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DE10F42D-D11C-4BC8-408B-9B8D93F646AC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B25BC57C-7A95-2D5D-CBAD-2B0C20446B49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A0FEDDB-DE30-8501-F271-38523995C2FD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DEEA2EAE-4461-789D-3B63-43839B2FEA17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4480F511-7E09-E30E-C0F7-9FD11AFEE380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8F30B216-E746-11D6-E5E3-9B90902C8078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A7C07C62-B832-D868-4B00-43C959D9D7B3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92DB996-56FD-EBE6-1C62-C1E9EC4D99BB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37F1F1A-F504-D02B-8447-8ED3213A42DD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98985D8-1E9A-166C-CF3C-3A53CBE1BEFC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216C8E19-BE98-6A9A-1898-DEDF80C359C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72A8A4A4-F2D1-6BDF-A9E5-848F89D35788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0D1CA65B-839B-4F87-6567-F6B9E330F883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9DB15380-00FE-297A-4B83-B3602B12C8BE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015B34CD-10C9-D0FA-D024-6DDB3C819B43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8D0ADDBB-A328-4B8B-1FEF-D828D90104CE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ECAD6EEA-1DA3-0E98-E96C-495B2C39BF1A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2A461C71-DE5D-B2B0-9FBB-C97CADDEB5DF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674EA672-3788-59C5-C10A-CF95A5A5BE14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76884B48-F516-9A49-BC8D-F24BB37DBDB4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802A71AB-0EF8-324C-6576-F045B3AFF1FC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9946A416-D271-42CE-F8C8-AE49D4F91F8E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F853FCC3-FC31-A288-10F2-38DF3504A846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24EC582A-15E1-D13E-08FD-BAD45F1D0F2D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515306D7-3913-4220-26A1-024685DE146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F08837-C955-2222-22A3-620CC181BB26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056054C6-E2E1-60E0-BA58-8E7282A9A526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C5FA6C8C-91A8-AB49-65C3-A03F220AD584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6FB81B22-9963-5F8B-FADC-4D4ECE87A156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E9FE1AD2-0571-6A17-CDE1-563E1E8A7EB3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E9FEC72E-5A44-4352-9FF1-E21F92703E88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1244C476-7E46-1C50-E303-75219137E1F4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6EFBDADC-726F-6D9C-755E-756A40719976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064158F9-EC21-D07B-A840-F062868E4F4B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19C09FC6-9C1E-015C-38CA-D5F5DF24B9BD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A89322BA-5602-8106-DA49-0F9E1ACE39D3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8B6C3137-0259-A1BB-99D3-2B2258564181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27098B6A-EC27-F3C8-F4BB-624011A6C169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15B1F7FF-FC80-F003-8AAC-4C20CE976A36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8DF1E8AC-A47E-A223-28E8-6D33D89F466A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7411E6D-5822-79B1-7F53-D2A8D3EE281E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CC389E7F-3268-A4EE-CB06-082C7E460CAA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2A6F0977-2A0F-5DBB-E949-B55E50C48F5A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593D147A-EDE6-4197-50CF-CB47FA1CCD76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387080DB-8A93-A38C-1B2D-3FC795B6CCDF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3B72DAE6-85A1-41D6-5240-890B6DDE61FD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38A22AAE-3217-CFBB-FC9F-1A5FFE9AB5CD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52142AF-6FFC-8750-802E-421F7068C0A0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4596622F-42AE-BE8C-2B12-D2ED9B5F785E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F79F5B3-7B9E-B756-3AC5-F5A419AF583D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8F9484CF-DB88-FA4C-9FE9-19232ECE3EA2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B09A85CB-4B33-D24B-558D-9D0646BEF385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F368F8D7-DE7F-F4E7-37DC-4258E999E062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E8BEA3D3-C2DA-5798-D5CD-87C9F9F05541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03FB8C7F-FF49-EAE7-1A0B-EEA10E83A8E7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4BBB6F3D-77F1-C32E-5B78-366593CCCEEC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1427802E-2436-4B74-A1CA-E9C95B2C6ACA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FC40851F-3CA2-39C2-BD4B-07D7DF240046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6C32E3CA-1E5D-0F1C-DC66-6B6EC2382BB1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32743F81-3DDA-4970-22AE-3FA0369E8293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E707A6A9-F11E-D9DE-D634-777080F806F9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BCA73AE6-008F-1CD7-BEAE-DEEE1B2A400A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A49BFADF-33C6-942E-1546-81080BA15C43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57B69807-86C5-A24B-71F1-740D0DB84BD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5BE5D452-3458-9977-066C-E638DDDB024D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64DCF692-7128-A040-2717-C410655C8014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C98D85D0-E0F6-7EE4-D7F9-714052A99D50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870FCBD8-2E72-5810-9A58-21984D85EDBA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B6C819FD-59C0-81F9-7BE2-3C8B0EC513BF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4EF78356-C394-6435-61D2-9E55E88E95A8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C868C3F3-E1F1-56BD-D21C-97E4D1837771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47AC3856-EDA6-E9C8-BDF7-6F7B11C47C1F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5E73C54-BCEE-F3D9-D5CF-A64A76729E16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44CDCA-1DED-7069-393C-4A2765527781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C24B98-9830-279D-FA33-B33BB8A4A99E}"/>
              </a:ext>
            </a:extLst>
          </p:cNvPr>
          <p:cNvSpPr/>
          <p:nvPr/>
        </p:nvSpPr>
        <p:spPr>
          <a:xfrm>
            <a:off x="1222193" y="465725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192" name="Picture 191">
            <a:extLst>
              <a:ext uri="{FF2B5EF4-FFF2-40B4-BE49-F238E27FC236}">
                <a16:creationId xmlns:a16="http://schemas.microsoft.com/office/drawing/2014/main" id="{B64EACE1-F3B9-2183-A069-11F7CEA9A4C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A6EB69-9CCC-C38C-C29C-5D885EEDD64C}"/>
              </a:ext>
            </a:extLst>
          </p:cNvPr>
          <p:cNvSpPr txBox="1"/>
          <p:nvPr/>
        </p:nvSpPr>
        <p:spPr>
          <a:xfrm>
            <a:off x="1142270" y="956205"/>
            <a:ext cx="10043853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Management Systems (LMS) (e.g., Moodle, Canvas, Google Classroom)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These platforms are excellent for content delivery, assignment submission, and grading.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Tools: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They are repositories of information, not active assistants. They do not "nudge" a student to study or warn them about procrastination.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Structure: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They follow a "one-size-fits-all" approach and cannot personalize the learning path based on an individual student's pace or gaps in understanding.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the Existing System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Students must switch between 4-5 different apps (Chatbot for doubts, LMS for syllabus, Calendar for dates, Notes for planning).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Reactive, Not Proactive: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Current tools wait for the student to ask or act. They do not proactively identify failure patterns or cognitive overload.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Voice Interaction: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Most educational tools are text-heavy and require constant typing/reading, which can be fatiguing.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"Human" Connection: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There is no sense of a "companion" or "mate" that understands the emotional rollercoaster of student life.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21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5501B6B-EC77-47C1-BED3-6FC1C9A01967}"/>
              </a:ext>
            </a:extLst>
          </p:cNvPr>
          <p:cNvSpPr/>
          <p:nvPr/>
        </p:nvSpPr>
        <p:spPr>
          <a:xfrm>
            <a:off x="1173494" y="575793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BE52D8CC-CA3B-4091-AAC5-54FFACAA753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E102B6-8441-F08C-6085-153AB402949D}"/>
              </a:ext>
            </a:extLst>
          </p:cNvPr>
          <p:cNvSpPr txBox="1"/>
          <p:nvPr/>
        </p:nvSpPr>
        <p:spPr>
          <a:xfrm>
            <a:off x="1173494" y="1225578"/>
            <a:ext cx="105080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Architecture (The "Brain")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a single monolithic model, the system is divided into specialized agents: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Load Balancer: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Detects when a student is overwhelmed and suggests prioritizing tasks or taking breaks, rather than just adding more to the to-do list.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Switch Agent: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Adapts the teaching style based on the student's preference (e.g., explaining a complex topic like a "Friend," "Teacher," or "Interviewer").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Pattern Analyzer: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Proactively identifies recurring mistakes (e.g., "You always struggle with Calculus 3 days before the exam") and suggests corrective actions before failure occurs.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Gap Detector: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Identifies specific missing pieces of knowledge that are blocking understanding, rather than re-explaining the entire topic.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Voice-First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Speech 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seamless Speech-to-Text and Text-to-Speech interaction.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for hands-free learning, making it accessible and reducing screen fatigue. Students can converse naturally, just as they would with a human study partner.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44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80FA-BBE2-F2F3-63A8-FAC0F935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86618E9A-C428-49CC-7C73-3182B6C3FC66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D785FA3-0020-9CF8-E7C8-2A56FD7FFC72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A072F8E-44A7-CAA8-DF0E-41201DB1E7A1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A6300A1-1A28-CCAB-7308-0C2FEC820E0E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F7F54CCB-EE35-0662-62BA-601B8F219CAB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DAA8903-8C7E-C7EC-7E55-AC5AA353EB4C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ECE5A67-A712-90BD-2F3D-A6E8E51E8D65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BAAAEB64-E981-B333-E2DB-FC91E74CB41B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F198AE1-3296-784E-B67B-4A409497E939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87FFCFDE-B6DE-1E8A-F935-B2C26BBE754F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D44CA83C-F3F9-0963-86E3-23C41A5C17B7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9104B0CD-12F7-7F43-F75B-1A5F084C87D9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DF0F7271-5929-F030-19EB-C8EFA175CB32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378732D4-7DD9-153A-A31E-198C7AFDC28F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3F65F59-A12E-B8CF-F48A-85F12DFD883F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28EEF89-3747-3DFB-E511-2AD554C31AF1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CDE2DA2-3A50-EFA3-7410-5828C5296E00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77C60018-F66A-8F05-2F33-C969452330D3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EF4B717-CC6D-C2AD-1BD2-6E81632692EF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AC8EB412-22E1-3B80-51FF-8BE3EFA2F20A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E26B15E-5320-781F-2E01-1E15850824F6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40E59842-88E3-8DC6-EC88-B91A4669A0FF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0BF18343-0F6D-D729-F06B-74FC3600D61D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77A27049-CF9D-A64F-B0D3-D6FF49932897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79A4E68C-DE81-0486-6C9E-4A94D38F11A6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5B840D2-C24C-1833-3F77-D2CC3F3DE7F1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C9FE3DC-8CA8-519A-782C-26149CBC5C9F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008E179-560D-73AF-9029-74DF31FB6D2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223B3CC4-8C11-23A4-126F-6FF61A9626E9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3A74EDD0-5D52-C87A-9BAF-A3C1B353B895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AF2D87A-7318-E156-25F2-7C11DFD8EAFF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561A877-442C-CF73-22FD-C83389644970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04A6F22C-700C-4CDC-8FD7-16B23410C22D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E307E2EF-89D0-8EA3-7FB3-DFBC5D86F3C2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9810AFA7-5BAF-897E-92F9-4B1B062C59D6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E0695E47-D44A-5792-1B79-2904B5137663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1EE20E15-6F61-2D15-9BB8-EA4C26215782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4192890C-6F89-1FB3-4C06-13229DE406AB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3B68663A-780C-7674-9B40-F442C25163C8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D655975A-E72B-EF54-4D88-C01530899E1F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59B8A9B-02B6-B2D5-E1F3-9DCD70479F4F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C2AABC35-A4A2-C749-C12F-3DC0BFD1FD77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5A180FFC-C8FE-4D49-6694-6F7F39DECEDB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B70C9498-EF03-4FE3-25D9-5710E7DC2767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A3F4E5F-B951-BEA9-F655-6A1FC6361028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39B9E16C-AA31-E848-7248-754032C9F40C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5DBA1D7-97BD-AFF8-B7FE-3912287495C0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B7AD6B2-0275-A619-76D1-3B364FCD181A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57FF15E5-7044-40FD-EA72-6E994CBFDBC1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74F5A92E-046F-6046-48C8-A1031ECC826A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CF06D7B-2AB0-C57E-D515-F3D3683C5C66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9F521669-6FBD-BE3D-B1F9-245F32452858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3E73DF9F-B165-4DC0-2697-045E758A1CB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DA6507C4-8D71-8D8D-22AE-D5338D0C5768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763E0F7-71C1-01D6-A646-7B0A2B02CB3A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30DDDE6B-B541-4288-8D71-1E4DD9312EF5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69FDA326-CBF7-B3B4-E16B-8F3B7975409C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7D0C179C-AFF1-7014-2B78-08D65108F5A4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0C86A36-2EA2-1C08-E29F-9222D506D766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1F978D2B-B3F4-BF0F-3D54-6AA4FB646914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6ECFE2A6-8A5B-F6AF-656E-52379F6D4B95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51CBE00F-990C-A376-4AD9-89866AA5C9A0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7C9CFEFB-7063-EC4D-45B5-DF029000FCE3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EA5C452E-091E-442D-1FAB-0379AE87BD01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2767EDE5-A822-F6B3-4395-B6FFD3BEE0A5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CC265AE8-1686-C9F2-CF75-B9728AC28FB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9B814B2F-42FC-E93C-23A6-EA8F67850B89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09569A2B-413D-69EC-4AE1-30891149EE7B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148959B-DA1F-FAF2-BCB4-EDF678B3FD32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0C56B7A6-6F0B-1A18-C3BF-002143F6222A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E1EA7239-0C44-687F-E6D1-B8813002B5EB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9337C41D-B674-417A-53CE-2CC45E70F260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2B4005EF-CD0B-C0F0-B7E3-AD0901030A54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D86AC78C-68C4-3C44-1BB8-85AE3AC46860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33AD4979-4606-256F-98F7-2B9E1621A751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2B16898B-CE06-E477-A7EE-7F062A2EE92C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814950B0-447B-E4B6-79FF-1F084D25166A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39AE9D4F-D70B-E48C-F3C8-42C50326568E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6D779581-735B-D6E3-7237-B14E7A4BCA04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5A3F6008-427D-C37E-C24A-91A36F0F39B1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BC1C777D-7048-4767-6223-CC899B1411BE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B97EF1B2-7D5E-4020-438C-C3E641069CE7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F5F788D8-CD88-8641-FC8B-9615847DB5E9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CC03CEF7-1A09-4C6B-35A0-BD347CB1D0D6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8A6DEB3-F5B5-1680-23BF-054E3A2CC59C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FC5AA24-75B3-D04D-9182-9C5DA2507249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D456EE85-2FF3-6C96-6921-E93A65B2187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4604A7EE-84C1-C8E5-7CAE-4684DF130D70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6EFD29D1-E9B4-0CE5-3E5E-A644A520F15D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579B7DA-23F9-3B6D-ACB9-898508C04AB0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1647CA31-28AF-62B0-1138-10799D7535F1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F997B486-873C-FBD5-8E1D-9C51028C18E5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BC00A39D-7F70-0901-9E8D-62427727351B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1AE89EA-3339-234E-2572-DE8589DC0361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32D4EF2D-6A29-77FB-9CD9-71FE64FC1BCA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B85688EB-4334-97BF-D403-C085B66534CD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6D2F6C6-78B1-97A0-65C2-62A18E56E78B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429B6C82-C07C-921F-B1DA-B7FF122DF7D7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37C91401-97A2-C10A-F2E7-B95586570413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1ABFCE1C-BC8E-7C12-595A-6BDBEFA19AF7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55F467BE-A775-06B5-AFE7-BB57EF9004E9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3CB7EEA8-4121-AD88-851F-BCA77A325671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ADC95B53-E60B-C9F8-F2EA-EC17154D404A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E41AB879-676D-B32E-75BF-5DB54095CB82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9DD8C3D5-880E-74BD-5E0E-B66AE172E456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775D2829-9A28-8D3C-0AB2-7D19B8910E00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64886EEF-16C1-E961-95BD-98785F0A816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637ECC54-3242-2850-AA4E-E0D50D0C8D1D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06D196BE-053F-29BC-A9D9-EABB0E16A65B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654D8129-A6FE-6EE9-4E2C-E170471C528D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A29C6C87-16CE-1432-A777-81E42E3C8CFC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B3F469AB-55F5-7541-9541-74CF9EC6B957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1ABA9B2A-F0E8-60CD-D128-918A4D7C9C1A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CE5488A7-552C-AF0D-6424-034698E67EAF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CDB166C9-A58D-BEE4-03A2-E31DE8172480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0A1247D2-EB72-4AFF-541C-1632F3C035B1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48A81372-22A4-932B-2682-D837A6C5056A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3F2DEE42-88D3-3D4C-D9EE-9D4C1108BAAB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CEA9D305-A966-4E33-32B6-51FCED5174D1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0DD1C067-5CE7-95E9-8A3D-C3799274E3A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9DF91C36-53EA-D826-8264-F0C7A34395B0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11C04AD0-3B97-688C-74AE-CB887182DD1C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4E9DB5E-839B-14F5-D3D2-C093AA73C04B}"/>
              </a:ext>
            </a:extLst>
          </p:cNvPr>
          <p:cNvSpPr/>
          <p:nvPr/>
        </p:nvSpPr>
        <p:spPr>
          <a:xfrm>
            <a:off x="1173494" y="575793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54B4D0C8-BEC5-E6F2-DCC7-323EABC9B79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67A934-6E19-1697-7B25-E9DA222F0DB0}"/>
              </a:ext>
            </a:extLst>
          </p:cNvPr>
          <p:cNvSpPr txBox="1"/>
          <p:nvPr/>
        </p:nvSpPr>
        <p:spPr>
          <a:xfrm>
            <a:off x="1173494" y="1225578"/>
            <a:ext cx="10508081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Long-Term Context &amp; Memory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general chatbots that lose context after a session, Student Mate AI maintains a persistent memory of the student's academic history, goals, and past interactions.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for continuous personalization (e.g., "Remember you found this topic hard last week? Let's review it.").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Holistic "Learning Life Flow" (LLF) Support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goes beyond just academics. It integrates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handle exam stress and anxiety, ensuring the student's mental well-being is prioritized alongside their grades.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Proposed System:-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Hyper-Personalization: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Adapts to the user's learning style, pace, and emotional state.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Assistance: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Warns students about potential pitfalls (burnout, failure patterns) before they happen.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Platform: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Combines the functions of a tutor, counselor, planner, and friend into a single interface.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Voice interaction makes education more inclusive and engaging.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39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964D-3856-9006-9914-B0183A1FA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0AACEB1-EB23-CD39-B881-D9F23D2A9FAC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D0B0AEB-1DAD-23E8-CEB3-CA8BC45FAC65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FDB0B8A-26A8-7AA8-8B32-8DF860EEA4EA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A176AF9-B893-6FA4-16A7-09E94BB18AB4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D35E724-1FA8-F870-4687-B0A7A590E590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48201B9-7BCE-D2E4-7DB4-DBE4F4540476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CF3E1118-5C3B-ED89-27CA-685D704744A0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199CDE91-6D81-927C-6B20-8ACE6B2D1953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FB5BE9E-C1A5-39D7-00C2-E3A41504264A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805C092-3A65-4FB6-894B-6A0BF77E6F7B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0C13941-B48D-11A8-CE31-C4544DD30C0D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82CA067-E75D-E431-FF73-C698F05F25D3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A5B4C7E-122D-A50C-57F4-26B1CB6215AF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54C22D2C-06EC-9B96-95C5-3D154AFD3A6A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0BD7360-0418-5176-4CBA-E8D2392971D3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BEEE29D-863E-3B42-B65F-C542BCDB1778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EA6AE66B-333F-DFE6-0140-D0B4B5FC2D45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D760DC7-47C8-2438-F85D-E92A9E746DD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8BC1674-8863-BD2D-7426-1ED804152BD1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C48F9BEF-7F56-BC32-EEAB-D2BF435C3E05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4FC90EBF-B6E4-6FCA-C9E2-28CB72DB5B6A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A012C0A-C54B-2A2E-9DA0-FB2636BCC3C7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3BEB8E4D-E00D-51FE-0032-6D2C98FADCF0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8984332-1799-60A6-6724-E27C92643002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19906E9F-E77C-738B-831A-A0C27A1D2FA3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5AB75E3-B83C-45BA-F168-5FD6BAE857B4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5AE04CF5-AF44-321A-A5D9-9DBC803608BB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CCAF5759-E181-4488-0EF0-B4474C3B38E9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03A62E2-3134-3E54-3588-997891070274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E82ED46-1F38-72A4-7578-E31811BD451F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3CC6348E-FD9A-6D96-AC23-6FFE54FDED3C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DF5E1CD4-5D02-9EDC-4B86-E85EB7D980F3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BE2F78B-8C4B-6335-0EB6-63111B21E339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D7303A47-2B9B-FCA0-4927-C81F6B030D55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D16855A6-AAA2-B68F-92E3-6B7D83A59002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8A5FC5D9-268A-9371-5E16-A251383B5D25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B7BB6685-0781-31AF-824B-179BDEA42876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4A717CDF-C107-B350-1734-1E83184D6C9A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F1E035E-9C17-6482-1B8D-83E6A119C025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6FC45D90-E40A-909F-077B-21A089977109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6D25EE15-26D4-D6EB-C69B-E8057012C0A0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681B31A-D70B-BDC4-99CF-57D725FA7A0F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14374AF1-9BCA-B255-3DF0-F4E1ADF38A56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632C1760-EFB0-F253-EBAB-3F0DE459B500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020F6D0D-88C8-7356-523C-97D6AE3E8FC2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C15E707-C087-32C4-1E7A-E32E579ABC0F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E9AAE901-72BF-A700-48DF-0B3177FFFC16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145662F0-E04D-673C-910D-46D0F77BEFE7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5674308-13EB-9CF7-F566-F5FC406A4CFF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20030AF-14ED-DB78-E246-92244062DB6C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469587D-AF8B-F56F-7AE4-4CC6781972C6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BAC2A716-EA8D-6A4E-0ADF-32454626EC23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8D09391-E6EE-CECE-7764-EF1A98615AF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84556F4-639B-C9BA-F23A-6EC87C01B273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27FAECFB-48CE-9E59-8605-50D735CCBBF4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7D56B8F7-693A-5E09-C3D5-685676E3B396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D20A9C1-9D52-DFF1-94DC-6B1F4A18E7A3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0851AE8E-BDE8-6D81-64BA-819C2884745F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DE1F612-BE94-B9D9-4659-A305629749B2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B3B26F2-C491-2F5A-49AD-CBE9596D72F9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A3B45B59-1377-E44E-64B5-93ABC282552E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4343EBE-AFB9-3398-49FA-B8653B026A7D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1E0E7A72-F046-02E8-4938-1F933F6CF374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1C52E980-EDC9-3CE4-CE41-9309EAA348D3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A9DE788D-A1E3-3D4F-F6B4-D50AD48F5172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87113BFA-0BE2-9F18-E2EE-7B954BBE3A5D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11E59668-B8EF-FFA7-F498-3863646FA9E9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F973A6AB-56B0-A98A-EB1E-1060AF0B3317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B87FE744-2E49-8614-FDD1-48864B43D20D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29BF5928-1064-F81B-B448-062E5C389647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14785D76-A2C1-CDFB-3FDE-CE7A433EA65C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1A6E44FA-0E03-5A0A-2B66-A7BFCFEC2A40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9E07AFA2-9499-4556-3CB4-B5197FD65C2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7926EBA4-3DB0-556F-60E2-27ADED3BDEE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DDAF8F9A-2FC2-B8AB-CE33-34D85EC75266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7CA325F-5BC5-F819-964A-AEC56ABE272E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9AC54718-A695-17F4-7DC5-E4E44C4B3DAE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D0117954-4A24-8833-2EDA-416B795D4A00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69CBF097-8260-E7FA-B0DC-E6562366BBC3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E31C9C02-3A52-F427-00BE-A4FB93054501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22C48725-E8A0-24A4-AE14-1B8EAD60CFBA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E8D8F596-8B95-970F-E0CD-00604C0ED8DA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9F3F7CED-0D27-1B7B-ABD3-9F598636341F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E5218BC-EE7D-24B1-8120-B4869292833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1D6DC67C-1628-B5D7-017C-24675EBD11AB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C76875AD-25B2-A542-5B01-88AA74274CBD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918CA459-7009-0C19-9E3C-7EB2958D0C50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BC0E006E-6D51-72B2-159D-32742B35E79D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739BFA8-4849-3D51-546F-167715CB2CC5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1379D51E-B0CD-DCDE-727E-8340609A6EF8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1D553E9B-B31F-6495-92C5-279C4D504038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516829C4-9A53-D32F-F34E-F919D3A04B0A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236BA74A-0BDD-3DE3-B9AA-D4002C39B7C1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E7843CE2-24EB-25BE-8651-8F22945DDCB6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E22FF5C-DA3D-431D-64FD-7F9FAF0D7BC3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304E15F4-F15F-2450-9085-9CCAAA818B5B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D5E40E4A-4DD4-9B6A-5827-63BDDDEF4034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59C8226A-FF4A-2109-724D-D3E09C060565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FA1A3836-68B3-7587-3EEC-C2AD17566F35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A82650E3-7008-E093-BB5F-5BC290EA7DC6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9AFDA192-9ED2-2D41-51D2-01625305811F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DCEB82B1-FAAE-3289-C056-F6F09CDFC499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36329F40-E1AB-EE3C-CE6E-F9DDD2012C55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9B39C3B2-523A-EC02-F9F5-92D9DEC96255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43898701-0F6F-BE5E-1CB3-5A8996D14C78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D71C3670-3BF5-A65E-BF7D-6A2EC72732B6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8488452C-B160-06C6-3659-AF909A600EAC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569B571C-C704-302F-16C5-F60E0F380ADC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4C6AEF6C-F602-1B28-80F3-E3AB8778A253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071FFB01-19B1-0D24-5087-587A725DDF76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E3F0BFB9-6BA1-52C3-0984-8C5CD18062F6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4E83A2CF-07A5-9A34-0BAB-4EF4525E79FF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00A5FD4B-AAC7-48A0-4E81-6C9ED0FD96FB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EDEEC3AC-6BF5-9529-5027-E64F605AC2AF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87AD49ED-65FD-7386-FD11-857361A32253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8FFB3599-E664-C105-4CB9-42BE916BE181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EFB2C516-683F-96BA-555A-D266204B3C13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C03E7C48-1C48-B930-6A18-44A09CE27A43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F8FFD018-AAE5-38C1-D566-ED993A8307F8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08F9CE66-06EF-1EBC-C864-8D883F3BFBE4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FF225F3D-4CA3-D7AF-483D-9766428805D4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E9E721D6-4B9E-F10C-47E0-E5ACE9E4952F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D0826DA-F289-0C89-FB8F-B614C9D0DF39}"/>
              </a:ext>
            </a:extLst>
          </p:cNvPr>
          <p:cNvSpPr/>
          <p:nvPr/>
        </p:nvSpPr>
        <p:spPr>
          <a:xfrm>
            <a:off x="1173494" y="575793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EEFC212F-21AD-FB0C-CE87-23A9E163758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02D1D23-469A-0F97-34DC-C787BF40F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4888" y="1109339"/>
            <a:ext cx="8402223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90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FDB59CB-2A88-326F-B50C-13DD5449741C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5501B6B-EC77-47C1-BED3-6FC1C9A01967}"/>
              </a:ext>
            </a:extLst>
          </p:cNvPr>
          <p:cNvSpPr/>
          <p:nvPr/>
        </p:nvSpPr>
        <p:spPr>
          <a:xfrm>
            <a:off x="1040005" y="671003"/>
            <a:ext cx="4103236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Outcomes of Project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939D96C7-C012-444F-B798-B9CA52C0158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30364F-77EE-FDAA-6B7A-68FE11F7F97F}"/>
              </a:ext>
            </a:extLst>
          </p:cNvPr>
          <p:cNvSpPr txBox="1"/>
          <p:nvPr/>
        </p:nvSpPr>
        <p:spPr>
          <a:xfrm>
            <a:off x="916049" y="1179919"/>
            <a:ext cx="1088911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Personalized Learning Experience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adapts to individual learning styles using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Switch Agent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complex concepts are explained in a way that matches the student's preference (e.g., as a friend or teacher), leading to deeper understanding.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Proactive Academic Improvement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utilizing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Pattern Analyzer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identifies recurring mistakes and warns students before exams, shifting the focus from reactive correction to proactive prevention of low grades.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Optimized Mental Well-being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Load Balancer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detects signs of burnout and suggests prioritizing tasks or taking breaks, helping students maintain a healthy balance between high academic performance and mental health.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Hands-Free Accessibility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Speech 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allows for natural voice interaction, reducing screen fatigue and making the tool accessible to auditory learners or those who prefer conversational study methods.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Scalable Technical Architecture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demonstrates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proving that a modular network of specialized agents is more effective and scalable than a single generic chatbot for complex educational tasks.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13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F44C-8A1E-DD1D-5FF7-C9779664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7DEDADB5-AB9C-1215-6017-7BD5745B5207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525A469-278E-ACDE-4992-5B589AD4570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1EDDF385-1031-9B6F-85F9-F8FE104826D2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51ED098-6899-E219-B466-D0DEC1302998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C8401D22-662D-3174-FF8C-99E823B73796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7C38A77-41ED-7F58-1986-BFD3BB3573DF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885ED06-CCBC-6E1A-4C04-3152BD148707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7E81510-83EA-113B-CC84-F6E1A028E3F3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4A63A7B4-1B8C-F2A5-9CB3-6A0F4A467FAD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7294DE5-D29A-8FF4-A565-6CE76C2B8493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1330192-D70C-EC65-FBED-6AF19D047635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F5DED70-7896-3A00-6F7F-6743CADD8BE0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9DC619E-A070-EDAD-EEE4-BA65707C3D74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192B54E5-40AC-586C-FAFB-982D9F788C1D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B5822C1-0366-65F5-46EF-F077C5FAA059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63DE694-155D-FCC5-A465-E53BEBA2DDC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35047F1-0471-B113-ED7A-73A6798F9C23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1E3B802-DE34-0C93-5B0C-FD6D0102F930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DF3A957-0598-4806-10B3-BB2F32A34C88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9BB7040-5881-C20D-400F-D2BA44848C8A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37043509-1E24-04AD-DE52-D5F7522AFC48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F4517293-7408-1347-A1F1-1DC822E1988B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974EAE03-2134-3B99-96BA-999BBD67E383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08A2267-88A2-134F-2CBF-C337E35AC7DA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99C759A-B906-32D8-1BFD-5B82630BD3E9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03BC5A4B-FE38-284A-B220-6B172F8342AE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19C030F-239A-E019-3002-C5E554905348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63FB22F-E46E-4286-4F77-B97DBD5D583F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C34238B-E6B4-CDCC-1030-5C79E330A8C0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1B2D919B-732A-90BE-257A-300411A32EF4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B2E9D15-361F-2F46-8918-34D5008ABD11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64696A14-D51F-FD57-37EE-9C730CA795C3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4D0C8956-E4CB-0D3E-FE6F-3E37043F5404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A6E93F2D-176C-4121-90A7-9052966722B9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E20006F2-02ED-3468-D7A9-508CCB89C278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12A25A29-0248-4770-1EE7-BD7B5AB15373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B75307AA-4402-50D0-E49A-219EA8D01ED4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990C7FC7-1117-F1CB-FA80-2E6A1CFD9104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943904E7-087E-FBDD-C283-438ECAE1001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14324576-9634-3928-C3B2-E163A00F893D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2BCB4DE5-EAC4-8425-A83C-AE51EE86CEC2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AEDA546F-D911-03DF-B9A5-CE5FF7BA5EA9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86F4C2E4-2309-6314-2752-D3A1D2674D7F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3A36DDE-D41F-69D5-C7F5-F15EFA4F5AA9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244001A2-2E7C-A607-A159-A19F3AB0051C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A32EE05-30AF-A1B4-A286-6BB98E1A0B71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8AE7A5B1-BE56-CDB0-1679-C07CDCD40FAB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03AB1E41-08E1-E7D4-AF34-38E281E810DB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CEA2554-2664-9ABA-2878-C6037EDC2FDB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3305E23-9CE2-9173-0744-974EFF84E09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9B04D1D1-A8D3-9A93-0A25-F6C8C6584955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EB47AFAD-5DB9-A8FD-CFBD-E43BB5CF1B80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95B55613-BCBF-F2B3-A91F-1D11A5B846CC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CA89ABB7-A599-DC13-2F78-DCF6293C5D90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D7607759-67C4-5902-150F-EBF4FD5683B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D7BF57C0-4D85-3FC8-3A2E-374C65006445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B44C9299-A2D1-DA05-81C4-BA5BC4CB8A40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3ADB51C-D11E-D7B7-A357-315E4FF28C99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8300EDE-6F07-B76F-7773-036462F68AA3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5056087-CE08-2412-2114-C3EC60DC6EDD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3093DB78-B236-C5F4-DC51-410A2C5EC0C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8AC1890-0963-54A7-FE1B-A5A72C843D8E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41F56981-B89A-018B-6A96-5EE45ADC49C3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17D6EA70-6074-C1F1-1C3F-3954335625B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0237F1C2-65AF-61AB-6588-F99F346DF317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A77E10D-08A2-FC97-7996-65973FE25512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B9692A6E-97B3-8FFD-4615-317A27A871B8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7F088ED9-F3D6-4315-BDC3-2A60A9E1200E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4BE2843A-DBE1-9194-72C9-4C516988832E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37E99D-D65D-F572-C6F9-E3272F116C8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94C59B4-779D-C58E-3C4C-EC4857256FA3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A11F988F-3708-1B87-B36C-78BD45BF5898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D6D49347-6920-0E39-36A8-3E8DE39C2D46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E183E9A4-4F44-FB00-29B5-521E453D7B4E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68BE939F-9905-BB34-FBA4-6AFDEFE81AB1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56428C0E-A663-282C-28B3-CE6C9E412087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6C2A574E-FA80-B132-A8C8-5CB5F7C3C616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4B2F3C04-E58C-459D-D92E-3932C6233F7B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25F7250-3F7D-C6C9-DD61-8EAF4280B677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CBEDDC45-89AF-8D39-B2D6-5D902A5AA688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9B26347-51D5-C79E-8692-441F9C985954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EB99071E-AF97-9636-3BCA-90AC1723F642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7CB93AA-E9C0-14DA-548D-0B9007FBC85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0C8C82E-6EF1-C9ED-B12A-11AEB13B7010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4B337839-9555-ACE9-043A-01BC4352FBFC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430C59DB-D574-88F3-E0F7-F818B1C6DFC8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32AD3FE-238D-2B70-34E6-AB18E12B2BF6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BCC89013-DEAD-4492-1A78-00DAAFAC8B76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81EB389B-14ED-420F-242D-FB14918F60DA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8754165C-D64F-4EDA-58BC-00818E170836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B599CC6F-317F-8BB4-E809-4C4CE68C7ED8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0D942226-B2D6-2E2C-9797-6C0D75152712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D004DF7F-1232-2F02-CBB3-3E804664787C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DD0FAC84-494C-5E70-67CF-29A074E0FBCF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A06E8586-450A-4024-787E-79C5DFE98D09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5F0241B6-5563-5594-7125-64DF23CCD840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D23AC0B0-897A-4B11-5890-5A82EBE860F0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0B819EB8-BC17-D318-A675-FEF551B37765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B2855969-55A2-2127-3C77-E4DC7700B26C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63AC9FA4-CE2D-DE64-040F-854CFD20104F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8E062D89-0A8E-877D-FF6C-911BEE661448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7FBCFAEA-C0E5-B07D-ED68-F8DE3B5D4299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AD98880A-B0C7-3F7E-02AE-53F9CF0F4225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F4E0DC48-A39C-8419-57DE-5DEFEA0B3D2E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62ABB53D-4CFE-987F-F808-5FB4580C9CA6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B348D617-616A-416B-0833-1B91133088CF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273ACF71-30B7-025A-2386-DBB1BD876F04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709E6E7B-5CC1-EFA7-57AA-B874D260319E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668EBE87-707E-4B69-2BF7-D916632FFDB4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9D359053-81AD-37B0-5C13-449BCC3EC0BB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A86DF4CA-17A6-6EDA-536B-17AC01D8892E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7819D609-8F61-DE33-7639-D80DFDB8B89B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99E11F00-4037-002C-BE59-7D519F1B3DF6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E33188B8-369F-323D-596E-1F2F53EE630E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1840B26B-EAF0-5971-4349-CA967E04D4F9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7449ED7F-C6F0-19DD-CC63-D3E4D342D45D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66D7942B-4434-E8D3-07AC-F8D8B1B5D6C0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B8C94D2A-E4BE-B847-908C-92F96E04B328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66ADE9FB-2E3F-2B60-635D-4942DFADA8D4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857727-3BE1-5B36-DC9D-2BDA820BA4A7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1D435FE7-9C59-3028-F77B-165673181976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CCE4FCB-34EE-3149-6D13-BDD756E19FE0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8136CE-E60C-E6A9-130E-07DB9DA8E60A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9ABE34C6-C4D7-79C1-8E72-D17E8F89BC2F}"/>
              </a:ext>
            </a:extLst>
          </p:cNvPr>
          <p:cNvSpPr/>
          <p:nvPr/>
        </p:nvSpPr>
        <p:spPr>
          <a:xfrm>
            <a:off x="1040005" y="671003"/>
            <a:ext cx="4103236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7746B689-B335-4419-64A8-1A65B128F2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9C344B-4092-9804-81E7-C96F70BA2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556529"/>
              </p:ext>
            </p:extLst>
          </p:nvPr>
        </p:nvGraphicFramePr>
        <p:xfrm>
          <a:off x="1290918" y="1305500"/>
          <a:ext cx="9771250" cy="3803073"/>
        </p:xfrm>
        <a:graphic>
          <a:graphicData uri="http://schemas.openxmlformats.org/drawingml/2006/table">
            <a:tbl>
              <a:tblPr/>
              <a:tblGrid>
                <a:gridCol w="2034021">
                  <a:extLst>
                    <a:ext uri="{9D8B030D-6E8A-4147-A177-3AD203B41FA5}">
                      <a16:colId xmlns:a16="http://schemas.microsoft.com/office/drawing/2014/main" val="501101438"/>
                    </a:ext>
                  </a:extLst>
                </a:gridCol>
                <a:gridCol w="2652404">
                  <a:extLst>
                    <a:ext uri="{9D8B030D-6E8A-4147-A177-3AD203B41FA5}">
                      <a16:colId xmlns:a16="http://schemas.microsoft.com/office/drawing/2014/main" val="773207218"/>
                    </a:ext>
                  </a:extLst>
                </a:gridCol>
                <a:gridCol w="5084825">
                  <a:extLst>
                    <a:ext uri="{9D8B030D-6E8A-4147-A177-3AD203B41FA5}">
                      <a16:colId xmlns:a16="http://schemas.microsoft.com/office/drawing/2014/main" val="3454672563"/>
                    </a:ext>
                  </a:extLst>
                </a:gridCol>
              </a:tblGrid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12" marR="63412" marT="31706" marB="317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673296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and interactive UI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707577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 Interface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Speech API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 input and speech output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864283"/>
                  </a:ext>
                </a:extLst>
              </a:tr>
              <a:tr h="41475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Node.js, Express.js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Server-side runtime and API handling and routing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777645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&amp; Agents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OpenAI Agent SDK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 and managing AI agents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79954"/>
                  </a:ext>
                </a:extLst>
              </a:tr>
              <a:tr h="5619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Model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Language Model (LLM)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language understanding and generation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70405"/>
                  </a:ext>
                </a:extLst>
              </a:tr>
              <a:tr h="5619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System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delegation and intelligent decision-making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760287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MongoDB 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data and interaction storage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05159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Git, GitHub, Postman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 and API testing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227927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Vercel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Render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Hosting and deployment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616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365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757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74A29-DA3F-ADF7-C4CA-BE27632B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235">
            <a:extLst>
              <a:ext uri="{FF2B5EF4-FFF2-40B4-BE49-F238E27FC236}">
                <a16:creationId xmlns:a16="http://schemas.microsoft.com/office/drawing/2014/main" id="{7C6199C0-7350-333A-C329-96D92E03778F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rgbClr val="E7E9DE"/>
          </a:solidFill>
        </p:grpSpPr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6AE6B3D4-C009-49A4-6ADE-ADDD7A6E4E75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95AB0906-8471-BA97-EF9C-DA0F17D5CFE0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B49306A8-4479-9AB5-6C75-1038C3585B8E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4B6BC0C4-FCFE-687D-3A5D-FB99EC41563E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13E67BAC-8416-CF20-B1B5-8C639B064156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17BF4969-44F3-A5F2-52D5-266BFCFF0AC4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16B4015C-0B9F-202F-5B3F-856A66DA4EBA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8EA1446B-8C29-AD81-B351-11CE934AF5C9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EDE11EA4-9690-34CC-8703-ACC73116E1C1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1EF9F05A-30BD-AFFC-F26A-1745968E9711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60CD5D1A-84F9-148B-FE6F-5EE8C543D2F2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E17AAAAF-211A-629C-75E3-4CB110A9F18E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BF112B28-56C4-A92B-AA7A-6B583487AD09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CA4899DA-2492-349A-5C54-53C0F450F861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94C37C1F-5C42-9254-9D8C-0FB8D5801238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FD05550B-67F0-7684-5725-0E9CF14FAC8C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DBC29A3F-1B7D-0869-0034-3F20D24D30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9E8CDFD3-F631-0BCB-8C39-C1070B5868AC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F7ADDCBA-80DA-4A90-F66B-FE4017CED351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3C5766E8-A61B-3338-6805-C395EAB0BC1C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0B6D0AC4-B277-2EB7-40DB-486DE792B626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60D88CF3-520E-A6F1-61ED-249EF8020408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4657AEAA-1118-BB92-CED6-3CA305E86D0F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C82A9C3C-C5C2-2532-606F-8EE0DBA2788C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31060DBE-04B2-4FEC-0979-A377D9589C2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DD4A6781-0EF9-7938-D753-BB8EE4F8A862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13DA7BBE-2BFE-3BAD-04A1-FE2D0B644933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A44786BD-BCEC-17AD-31EE-4AABB6325F29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62B78DD8-E84D-20D5-E19C-061974FC1E45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9BC96E19-0F40-F6B3-B394-D5F160719FAC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29BEECD7-44B3-7381-A0B6-A449529903A5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08FD7F62-05E2-FD12-8644-6A6729944868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53E3710D-6205-54CC-07D6-B2C1FFF4734B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1B80C728-89C9-0C46-B2B9-323D125B67B9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9EE07371-7D0E-E5D5-5778-C76372D5F74C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DDBC68D5-AD9E-7E5E-CA95-629616B7B4C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79ADA5C0-6F33-3F19-400F-96CBB076BF12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77BA186C-A6A5-9471-1651-35AB949BE0DF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D9E36621-8B6D-9E89-F7A9-A09DBFDDBF66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4591CEC4-43B1-52F0-EDBE-A9EF06D08F2E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49056893-5507-9F1E-36FF-EDB5DF28CC65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3889EC38-886C-C7D3-0CC6-7E5FD2611EF3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97A53E23-78ED-8E56-3323-AEE813FF3539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21C8D3A8-87CF-9E20-2F4D-7A318D724E74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9DA6824A-E0EE-820C-0CD5-A609F2C5633B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EA7E7EA4-C06C-3D33-8212-46640F622152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76146377-2EF6-EB93-C2C5-124C83647BA4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54FAEB72-C74D-353E-0071-47121E68A79B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B483B63E-13E7-22C8-99D5-452884AA5907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E606449C-50A1-2F88-BDAC-E9098CFD5D88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0218FB12-7F3F-49C4-E789-B00E0D297524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D22921BC-8D71-AC91-F7C4-CEAB4C422D10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B9D9EF7B-83DA-C177-C477-B64036BF05F1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5C631F2F-3F0B-A175-1C87-1D75B94293E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28686EC7-70F1-2624-D40D-34119C11B7F0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48DB1D36-94C7-A8CF-3481-F036BFB99DE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97E016A8-5DEB-9A9C-3C4A-2D9BE7C72B0F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6A508B83-E98A-7854-9745-89A39F3370D6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6F44BB54-F677-6359-4739-E334EDF5381C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78540717-337D-61BB-8466-0D4C333EB0C4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D67D2DFC-B9C9-5C49-7804-E009BFC2FA06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769BDAAD-C259-9AED-C872-BDE537937A19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92391B1C-4229-A044-CFE0-49B63286BFF2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8CD3E019-DF97-BC1D-86DE-2BC79EBE2A76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1B782E61-D97C-FB64-1053-964AF3CE92E1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7052B387-D0A8-C89A-C8DE-567BB2F9FF59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A4216C73-A289-1637-DD78-E61AD2DF2835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B25521A8-1A8F-8A9A-F131-7FD3D92FB4F3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EEE57A03-E4D4-AA82-87D1-70C242A3B55D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B1818AD8-2376-D8A3-2EFA-85781BEA7E16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0CA9F585-005F-CACB-50C1-7DAC8757081C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44B46989-79EA-97E5-4BAA-90DA36C3594B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C630CF39-0DE6-9842-B871-FD54052E60CD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AFD62814-8841-E61A-AE24-65F36B84D4ED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DD4CD568-D3C0-16F3-3842-CB05C468FAD0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301B1F92-DEE8-1144-5090-F827AF882C14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CCBC098A-9926-29A9-0155-43F3A0C7B96A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86AD9669-6A5A-2B79-F68A-DF2A5D5F7DDD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50DCD269-3CC2-0B33-D624-AA49E1B165CA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CF638A96-5C68-674A-1828-7EAE4EA5C0DE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90CD1291-04E0-C091-8B8D-5E61351D9ED4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25719CAE-FC69-D8A5-ABC3-62A84BFB0B48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4DE0BF54-1825-37BA-87E3-0101C25239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88004EFA-28A9-1447-718B-151867994D35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CF0B76C2-20D6-31CF-93B2-53FCECF94DCA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6F23D02B-D4E3-FF1B-B9C0-258DB69E0F3C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3C76304B-81DE-EA8C-9E88-D652755679C4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2C3ED704-1250-6D2D-660A-9EF150B41041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7A6D5F7E-61A6-4E6E-666F-F4E8F7E40197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1E5DC440-2299-6FDC-EBF9-1BE380620FD8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69DFF316-7443-F539-1D4D-E71D07E20DE2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BCE55FAF-D37C-53C7-BE7B-5E9269D5DA92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7E0F5554-9E14-4264-6F0E-E2423FF070FA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53C57555-D22B-544E-D8C3-032A37BD78E4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8648EB53-8B17-F097-2E55-885D5B188CE8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3151C22B-E0EF-ABF6-420A-77BF863B6A92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85AE2CCF-4680-79B2-9151-CADFCC357A3C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EEC7E60B-CF7A-ADA4-E868-38D54B107152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8194A8EE-77CE-BD9C-4E65-F09C683F65BE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43AAD094-BFBD-787D-9FC2-E48411799545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AA4BEBFD-7552-CA4A-9652-A5417B0F6BB6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40778DA1-1F9C-E62A-4B37-206A8F3E33EB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AED662F1-39E6-9457-4888-F28B45E57C17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2870CCF9-5BB8-44AB-DC41-6B1458F40E2E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B3B05434-0097-1448-9E33-DB819E8B5393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15139F59-BD9F-5001-7088-D1F497BE363F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FA41D73C-C93A-A06F-66B2-AA1848AA931F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2E4C336D-910A-FCCD-0588-0B71A3B14737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103AC243-E9BE-1386-E0B1-F7FD8F618DA2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D218F222-61AB-A672-C304-50E406055180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CB7D46B1-E68B-7906-3EA5-C7052A5DEFDD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9513D5A6-336E-9965-0482-02877A98F923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:a16="http://schemas.microsoft.com/office/drawing/2014/main" id="{B6E671F9-9FDD-36B2-E5ED-896544B87065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81AB5E22-45A9-F597-0CA7-F6550C1DC6D4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D00B5876-597C-E80C-F8E0-36B5E77A3507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887E0B72-6B1B-249E-A1CB-99550A9D9D00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91871F59-0E26-A018-81C1-786ED3BE5DF6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1D920C36-F43E-BD69-BAFE-72A15243397E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E9953019-BE7F-9AB4-C255-858A405EFAC4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CEB9DDDB-121F-3015-C840-3448EAF3BD41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D4F3ED48-433C-07BE-F2F6-35F273EE2404}"/>
              </a:ext>
            </a:extLst>
          </p:cNvPr>
          <p:cNvSpPr/>
          <p:nvPr/>
        </p:nvSpPr>
        <p:spPr>
          <a:xfrm>
            <a:off x="1082078" y="662619"/>
            <a:ext cx="8622747" cy="7590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0" bIns="0" rtlCol="0" anchor="t" anchorCtr="0"/>
          <a:lstStyle/>
          <a:p>
            <a:r>
              <a:rPr lang="en-US" sz="4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US" sz="44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8CB939-6A03-47F6-A436-0DA2A7B729A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A2831-465F-7EA6-84C5-457F2175EE9B}"/>
              </a:ext>
            </a:extLst>
          </p:cNvPr>
          <p:cNvSpPr txBox="1"/>
          <p:nvPr/>
        </p:nvSpPr>
        <p:spPr>
          <a:xfrm>
            <a:off x="1201271" y="1458317"/>
            <a:ext cx="104362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this project successfully realizes the vision of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intelligent, voice-enabled academic companion tailored to the multifaceted needs of modern students. By moving beyond the constraints of static educational tools and generic chatbots, the system leverages a robust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Generative AI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deliver a truly personalized experience.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specialized agents—capable of managing cognitive load, adapting teaching personas, and analyzing failure patterns—ensures that support is not just reactive, but proactive 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the inclusion of a voice-first interface significantly enhances accessibility and user engagement. Ultimately, Student Mate demonstrates the transformative potential of agent-based AI in education, offering a holistic solution that simultaneously enhances academic performance, fosters mental well-being, and drives long-term student productivity.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84883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478310-4933-4BCA-ABFF-1A61763F24B9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9799</TotalTime>
  <Words>1537</Words>
  <Application>Microsoft Office PowerPoint</Application>
  <PresentationFormat>Widescreen</PresentationFormat>
  <Paragraphs>154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Century Gothic</vt:lpstr>
      <vt:lpstr>Courier</vt:lpstr>
      <vt:lpstr>Times New Roman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Alexandra Ragazhinskaya</dc:creator>
  <cp:lastModifiedBy>Bhargav Sakilam</cp:lastModifiedBy>
  <cp:revision>136</cp:revision>
  <cp:lastPrinted>2020-08-31T22:23:58Z</cp:lastPrinted>
  <dcterms:created xsi:type="dcterms:W3CDTF">2021-07-07T23:54:57Z</dcterms:created>
  <dcterms:modified xsi:type="dcterms:W3CDTF">2025-12-19T13:36:35Z</dcterms:modified>
</cp:coreProperties>
</file>